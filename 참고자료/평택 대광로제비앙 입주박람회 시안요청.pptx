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ED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724827-201D-423B-A7DC-75A90049D4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72528B9-E977-4713-B5CF-380DD2497D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ECD61F-6966-44B5-B614-29C62C10E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CB75A-D11D-4D53-B007-E3872EB3B620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9771A6-2633-49D1-ACDC-96D05E435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95F11C-054B-4696-BBF8-22BEF41F9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030EE-2BE3-4888-808C-09E6DD3F3B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5983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F7886B-745E-4F71-9298-0D56D604F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0A7FFC-D431-4F17-9B45-DB9EDA0E6A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092665-5427-4003-B948-995DBA609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CB75A-D11D-4D53-B007-E3872EB3B620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E9B58C-9A40-4BB9-BC31-103E73A09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8ED098-F6A4-4142-B064-0E61FA0D4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030EE-2BE3-4888-808C-09E6DD3F3B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8758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3DFA75-6C85-48F8-BC59-67C538FED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0B33A43-F84B-468E-B702-254518A0AA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61DF3D-38ED-4C69-B182-58082BFD5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CB75A-D11D-4D53-B007-E3872EB3B620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1D2E99-949A-48F7-AC13-797D77ABB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CC8633-47F8-49B6-98EE-4D3249314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030EE-2BE3-4888-808C-09E6DD3F3B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7908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11F1DF-79C6-42B1-BF98-EE17532B4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F4FF0E-7EEA-4D83-90DE-CD80E9E544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DD89357-ED13-4C2A-8972-7C31C0B49E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CEC40F-DCB8-43D4-9AAB-FB9CA67B9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CB75A-D11D-4D53-B007-E3872EB3B620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3DF575E-C6CB-42F7-A9F5-9365C8DCE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1A058C4-402C-4AF1-9643-0EED8B73E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030EE-2BE3-4888-808C-09E6DD3F3B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8696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EB6535-B8B4-4272-9A7A-CD277D42E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C4000B2-0677-4A26-8086-1B8CA9A876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EA78037-04FC-4B6C-9D15-2C7A6E997B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FDE6182-4F92-4390-85CF-662B647E09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FA3FC3B-5C11-48D8-8B20-05804008D0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91AD1CB-2A2B-460F-8E41-3A0C02585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CB75A-D11D-4D53-B007-E3872EB3B620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ABCEDBB-3E38-41F1-9A8A-89D4790A3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D649154-89E7-4F2F-8241-973E9D47E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030EE-2BE3-4888-808C-09E6DD3F3B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5678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D71FF0-40C3-4588-B3E7-12CAECCBB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1FB9336-3937-48ED-9C11-1F3C54EA0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CB75A-D11D-4D53-B007-E3872EB3B620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ED479CE-508D-431C-A65C-7E0C878F3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2991DB7-02DC-4D11-9B6E-963255838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030EE-2BE3-4888-808C-09E6DD3F3B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303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3D757B7-6D0D-4555-B35D-94C19DD49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CB75A-D11D-4D53-B007-E3872EB3B620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478D71-4A03-4A5B-AE7C-A11115FEC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011CA2-E659-4A53-AC2C-689F40717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030EE-2BE3-4888-808C-09E6DD3F3B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5760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73FE2D-C867-477A-8C18-E358777F6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7916F2-40A3-4A04-863B-54F3E6FAC0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3C9EECD-F620-454B-B736-82BA25510E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FBE0FDB-F4E0-48FF-994D-F007EE4D9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CB75A-D11D-4D53-B007-E3872EB3B620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5093715-5373-4D47-BA03-61FA2DAB6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6459F87-F519-4A55-86C9-128D9377A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030EE-2BE3-4888-808C-09E6DD3F3B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3713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241F27-AAF7-4B5B-98C5-386821128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9293F93-8446-40E3-8DED-853BEF38EE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85594D6-5232-4A9C-BD8B-BDC826D79A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79C137-AC74-4F02-B7E2-77891B319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CB75A-D11D-4D53-B007-E3872EB3B620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9724059-E1A6-4AE4-A4CC-17B6B2821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FD4AE27-690E-44A9-A52A-078402BAB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030EE-2BE3-4888-808C-09E6DD3F3B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5394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E2384A-9B96-4253-A24B-A00BB8B01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5A9C955-9341-4FD0-AFF4-D0153F260D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6336E3-97F7-431D-B435-8A061663E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CB75A-D11D-4D53-B007-E3872EB3B620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CF7BC7-AF12-4C08-92EA-6BAEFB797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7BD7FA-A7D3-41EF-97B7-F51462A65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030EE-2BE3-4888-808C-09E6DD3F3B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5172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2DC0C56-8899-4FEC-B260-1AC6287321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2311ED0-855E-4CA1-A001-B74D1A9854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8381497-3F66-47FB-BCD3-9DFE8262F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CB75A-D11D-4D53-B007-E3872EB3B620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34B29CE-00FC-490E-8BF0-F9AB9F242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1B2C4F-E795-408D-B505-9F02A7F15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030EE-2BE3-4888-808C-09E6DD3F3B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2713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9DF7F09-5EBC-40C4-A915-A9E7ED0AC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A5067FD-F84D-40C6-BC54-2DC3E92626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AF5563-166D-431C-B682-EA44B6AF77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ACB75A-D11D-4D53-B007-E3872EB3B620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DA2290-93F5-48BC-9BA8-410B75995D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AC0D1B-5F9F-49F4-9B13-B698AFFF83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030EE-2BE3-4888-808C-09E6DD3F3B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7156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983C56A-AA1F-481E-BE9B-93244D382C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1578" y="0"/>
            <a:ext cx="4848844" cy="6858000"/>
          </a:xfrm>
          <a:prstGeom prst="rect">
            <a:avLst/>
          </a:prstGeom>
        </p:spPr>
      </p:pic>
      <p:sp>
        <p:nvSpPr>
          <p:cNvPr id="3" name="부제목 2">
            <a:extLst>
              <a:ext uri="{FF2B5EF4-FFF2-40B4-BE49-F238E27FC236}">
                <a16:creationId xmlns:a16="http://schemas.microsoft.com/office/drawing/2014/main" id="{37F1FD54-5BE1-40BB-BE06-597A14D5A84E}"/>
              </a:ext>
            </a:extLst>
          </p:cNvPr>
          <p:cNvSpPr txBox="1">
            <a:spLocks/>
          </p:cNvSpPr>
          <p:nvPr/>
        </p:nvSpPr>
        <p:spPr>
          <a:xfrm>
            <a:off x="188259" y="294061"/>
            <a:ext cx="2250141" cy="3693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400" b="1" dirty="0"/>
              <a:t>* </a:t>
            </a:r>
            <a:r>
              <a:rPr lang="ko-KR" altLang="en-US" sz="1400" b="1" dirty="0"/>
              <a:t>프로모션 안내</a:t>
            </a:r>
            <a:r>
              <a:rPr lang="en-US" altLang="ko-KR" sz="1400" b="1" dirty="0"/>
              <a:t>POP</a:t>
            </a:r>
            <a:endParaRPr lang="ko-KR" altLang="en-US" sz="1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7F69C0-5C06-44C1-9748-5E0A6A31B301}"/>
              </a:ext>
            </a:extLst>
          </p:cNvPr>
          <p:cNvSpPr txBox="1"/>
          <p:nvPr/>
        </p:nvSpPr>
        <p:spPr>
          <a:xfrm>
            <a:off x="188259" y="590613"/>
            <a:ext cx="2233666" cy="414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/>
              <a:t>-A4 </a:t>
            </a:r>
            <a:r>
              <a:rPr lang="ko-KR" altLang="en-US" sz="1600" b="1" dirty="0"/>
              <a:t>사이즈</a:t>
            </a:r>
            <a:endParaRPr lang="en-US" altLang="ko-KR" sz="1600" b="1" dirty="0"/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2E9E6685-6527-4708-8F62-F8994BEBB0E7}"/>
              </a:ext>
            </a:extLst>
          </p:cNvPr>
          <p:cNvCxnSpPr/>
          <p:nvPr/>
        </p:nvCxnSpPr>
        <p:spPr>
          <a:xfrm>
            <a:off x="7792453" y="590613"/>
            <a:ext cx="1455938" cy="7126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4F7A63C-F675-4DA4-8651-472ECBCB2E8F}"/>
              </a:ext>
            </a:extLst>
          </p:cNvPr>
          <p:cNvSpPr txBox="1"/>
          <p:nvPr/>
        </p:nvSpPr>
        <p:spPr>
          <a:xfrm>
            <a:off x="9374819" y="1004637"/>
            <a:ext cx="3118161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/>
              <a:t>평택 </a:t>
            </a:r>
            <a:r>
              <a:rPr lang="ko-KR" altLang="en-US" dirty="0" err="1"/>
              <a:t>대광로제비앙</a:t>
            </a:r>
            <a:r>
              <a:rPr lang="ko-KR" altLang="en-US" dirty="0"/>
              <a:t> </a:t>
            </a:r>
            <a:r>
              <a:rPr lang="ko-KR" altLang="en-US" dirty="0" err="1"/>
              <a:t>모아엘가</a:t>
            </a:r>
            <a:endParaRPr lang="ko-KR" altLang="en-US" dirty="0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8E7BB301-8460-43CC-9482-10482D018063}"/>
              </a:ext>
            </a:extLst>
          </p:cNvPr>
          <p:cNvCxnSpPr/>
          <p:nvPr/>
        </p:nvCxnSpPr>
        <p:spPr>
          <a:xfrm>
            <a:off x="7609642" y="3047008"/>
            <a:ext cx="1455938" cy="7126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018EEEEA-C41F-48AE-B801-B4D5993FB9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2753" y="3403333"/>
            <a:ext cx="3662998" cy="1284077"/>
          </a:xfrm>
          <a:prstGeom prst="rect">
            <a:avLst/>
          </a:prstGeom>
        </p:spPr>
      </p:pic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95365B36-778E-4927-AD83-771109F0EA23}"/>
              </a:ext>
            </a:extLst>
          </p:cNvPr>
          <p:cNvCxnSpPr/>
          <p:nvPr/>
        </p:nvCxnSpPr>
        <p:spPr>
          <a:xfrm>
            <a:off x="7387700" y="1526541"/>
            <a:ext cx="1455938" cy="7126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63DE4F7-A8AA-4918-B99B-F4E750A20EBB}"/>
              </a:ext>
            </a:extLst>
          </p:cNvPr>
          <p:cNvSpPr txBox="1"/>
          <p:nvPr/>
        </p:nvSpPr>
        <p:spPr>
          <a:xfrm>
            <a:off x="8945986" y="1846679"/>
            <a:ext cx="3512500" cy="120032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 err="1"/>
              <a:t>일룸</a:t>
            </a:r>
            <a:r>
              <a:rPr lang="ko-KR" altLang="en-US" dirty="0"/>
              <a:t> 평택점에서 입주민을 위한 </a:t>
            </a:r>
            <a:endParaRPr lang="en-US" altLang="ko-KR" dirty="0"/>
          </a:p>
          <a:p>
            <a:r>
              <a:rPr lang="ko-KR" altLang="en-US" dirty="0"/>
              <a:t>특별한 혜택을 만나보세요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날짜 삭제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F6D017-D7E3-43D8-B454-C1C511E95494}"/>
              </a:ext>
            </a:extLst>
          </p:cNvPr>
          <p:cNvSpPr txBox="1"/>
          <p:nvPr/>
        </p:nvSpPr>
        <p:spPr>
          <a:xfrm>
            <a:off x="2304540" y="5780857"/>
            <a:ext cx="1484424" cy="26161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ko-KR" altLang="en-US" sz="1100" dirty="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</a:rPr>
              <a:t>삭제</a:t>
            </a: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A414A8F3-12AB-42C2-B708-459635517330}"/>
              </a:ext>
            </a:extLst>
          </p:cNvPr>
          <p:cNvCxnSpPr>
            <a:cxnSpLocks/>
          </p:cNvCxnSpPr>
          <p:nvPr/>
        </p:nvCxnSpPr>
        <p:spPr>
          <a:xfrm flipH="1" flipV="1">
            <a:off x="3865830" y="5921406"/>
            <a:ext cx="91035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CFB1C125-7DAB-428A-A995-069715779DCE}"/>
              </a:ext>
            </a:extLst>
          </p:cNvPr>
          <p:cNvSpPr/>
          <p:nvPr/>
        </p:nvSpPr>
        <p:spPr>
          <a:xfrm>
            <a:off x="9596673" y="3512745"/>
            <a:ext cx="290787" cy="172015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12E735F-0BD2-43ED-A2D9-5E7A7BEA79E2}"/>
              </a:ext>
            </a:extLst>
          </p:cNvPr>
          <p:cNvSpPr/>
          <p:nvPr/>
        </p:nvSpPr>
        <p:spPr>
          <a:xfrm>
            <a:off x="12458486" y="3512744"/>
            <a:ext cx="290787" cy="172015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4188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599DC620-D2AD-462B-BAD1-8370E65E7B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5830" y="0"/>
            <a:ext cx="7039870" cy="6858000"/>
          </a:xfrm>
          <a:prstGeom prst="rect">
            <a:avLst/>
          </a:prstGeom>
        </p:spPr>
      </p:pic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AFF15CCF-DAB6-4CAA-9D24-208D0E04E1B6}"/>
              </a:ext>
            </a:extLst>
          </p:cNvPr>
          <p:cNvCxnSpPr>
            <a:cxnSpLocks/>
          </p:cNvCxnSpPr>
          <p:nvPr/>
        </p:nvCxnSpPr>
        <p:spPr>
          <a:xfrm flipH="1" flipV="1">
            <a:off x="3584871" y="5208206"/>
            <a:ext cx="1161461" cy="2432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부제목 2">
            <a:extLst>
              <a:ext uri="{FF2B5EF4-FFF2-40B4-BE49-F238E27FC236}">
                <a16:creationId xmlns:a16="http://schemas.microsoft.com/office/drawing/2014/main" id="{DE2649B1-D246-4584-B64A-5ED6520449B0}"/>
              </a:ext>
            </a:extLst>
          </p:cNvPr>
          <p:cNvSpPr txBox="1">
            <a:spLocks/>
          </p:cNvSpPr>
          <p:nvPr/>
        </p:nvSpPr>
        <p:spPr>
          <a:xfrm>
            <a:off x="188259" y="294061"/>
            <a:ext cx="2250141" cy="36932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400" b="1" dirty="0"/>
              <a:t>* </a:t>
            </a:r>
            <a:r>
              <a:rPr lang="ko-KR" altLang="en-US" sz="1400" b="1" dirty="0"/>
              <a:t>요청</a:t>
            </a:r>
            <a:r>
              <a:rPr lang="en-US" altLang="ko-KR" sz="1400" b="1" dirty="0"/>
              <a:t>4 </a:t>
            </a:r>
            <a:r>
              <a:rPr lang="ko-KR" altLang="en-US" sz="1400" b="1" dirty="0"/>
              <a:t>프로모션 안내</a:t>
            </a:r>
            <a:r>
              <a:rPr lang="en-US" altLang="ko-KR" sz="1400" b="1" dirty="0"/>
              <a:t>POP</a:t>
            </a:r>
            <a:endParaRPr lang="ko-KR" altLang="en-US" sz="1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14F066-99E9-46CB-89D2-CE4C5D358FE4}"/>
              </a:ext>
            </a:extLst>
          </p:cNvPr>
          <p:cNvSpPr txBox="1"/>
          <p:nvPr/>
        </p:nvSpPr>
        <p:spPr>
          <a:xfrm>
            <a:off x="188259" y="590613"/>
            <a:ext cx="2233666" cy="414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/>
              <a:t>-A4 </a:t>
            </a:r>
            <a:r>
              <a:rPr lang="ko-KR" altLang="en-US" sz="1600" b="1" dirty="0"/>
              <a:t>사이즈</a:t>
            </a:r>
            <a:endParaRPr lang="en-US" altLang="ko-KR" sz="1600" b="1" dirty="0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EAB769C2-0A51-4A03-9CAF-672CB7E681CE}"/>
              </a:ext>
            </a:extLst>
          </p:cNvPr>
          <p:cNvCxnSpPr>
            <a:cxnSpLocks/>
          </p:cNvCxnSpPr>
          <p:nvPr/>
        </p:nvCxnSpPr>
        <p:spPr>
          <a:xfrm>
            <a:off x="7792453" y="476600"/>
            <a:ext cx="1051185" cy="1867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61B2456-2789-4A9F-9E9C-6782BBDAFAAE}"/>
              </a:ext>
            </a:extLst>
          </p:cNvPr>
          <p:cNvSpPr txBox="1"/>
          <p:nvPr/>
        </p:nvSpPr>
        <p:spPr>
          <a:xfrm>
            <a:off x="8967414" y="385169"/>
            <a:ext cx="2791149" cy="58477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평택 </a:t>
            </a:r>
            <a:r>
              <a:rPr lang="ko-KR" altLang="en-US" sz="1600" dirty="0" err="1"/>
              <a:t>대광로제비앙</a:t>
            </a:r>
            <a:r>
              <a:rPr lang="ko-KR" altLang="en-US" sz="1600" dirty="0"/>
              <a:t> </a:t>
            </a:r>
            <a:r>
              <a:rPr lang="ko-KR" altLang="en-US" sz="1600" dirty="0" err="1"/>
              <a:t>모아엘가</a:t>
            </a:r>
            <a:endParaRPr lang="ko-KR" altLang="en-US" sz="1600" dirty="0"/>
          </a:p>
          <a:p>
            <a:r>
              <a:rPr lang="ko-KR" altLang="en-US" sz="1600" dirty="0"/>
              <a:t>특별 프로모션</a:t>
            </a: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994946F9-6C3E-4A3D-9538-CD686C8E0C88}"/>
              </a:ext>
            </a:extLst>
          </p:cNvPr>
          <p:cNvCxnSpPr>
            <a:cxnSpLocks/>
          </p:cNvCxnSpPr>
          <p:nvPr/>
        </p:nvCxnSpPr>
        <p:spPr>
          <a:xfrm flipH="1">
            <a:off x="3806449" y="1467367"/>
            <a:ext cx="939883" cy="3252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58D42C8-3DF4-4C85-87F0-C524A08479B9}"/>
              </a:ext>
            </a:extLst>
          </p:cNvPr>
          <p:cNvSpPr txBox="1"/>
          <p:nvPr/>
        </p:nvSpPr>
        <p:spPr>
          <a:xfrm>
            <a:off x="7880653" y="2143210"/>
            <a:ext cx="4507965" cy="92333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추천 제품 구매 혜택</a:t>
            </a:r>
            <a:r>
              <a:rPr lang="en-US" altLang="ko-KR" dirty="0"/>
              <a:t>-</a:t>
            </a:r>
            <a:br>
              <a:rPr lang="en-US" altLang="ko-KR" dirty="0"/>
            </a:br>
            <a:r>
              <a:rPr lang="ko-KR" altLang="en-US" dirty="0" err="1"/>
              <a:t>일룸</a:t>
            </a:r>
            <a:r>
              <a:rPr lang="ko-KR" altLang="en-US" dirty="0"/>
              <a:t> 추천 제품 구매 시 추가 혜택 제공</a:t>
            </a:r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dirty="0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1E733E5D-D1F4-4E05-9531-6BD7045278F8}"/>
              </a:ext>
            </a:extLst>
          </p:cNvPr>
          <p:cNvCxnSpPr>
            <a:cxnSpLocks/>
          </p:cNvCxnSpPr>
          <p:nvPr/>
        </p:nvCxnSpPr>
        <p:spPr>
          <a:xfrm>
            <a:off x="7187774" y="2528789"/>
            <a:ext cx="1031878" cy="576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BD1CE02-F268-47A4-9F36-5BD6150059C3}"/>
              </a:ext>
            </a:extLst>
          </p:cNvPr>
          <p:cNvSpPr txBox="1"/>
          <p:nvPr/>
        </p:nvSpPr>
        <p:spPr>
          <a:xfrm>
            <a:off x="583745" y="1526541"/>
            <a:ext cx="2791149" cy="107721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평택 </a:t>
            </a:r>
            <a:r>
              <a:rPr lang="ko-KR" altLang="en-US" sz="1600" dirty="0" err="1"/>
              <a:t>대광로제비앙</a:t>
            </a:r>
            <a:r>
              <a:rPr lang="ko-KR" altLang="en-US" sz="1600" dirty="0"/>
              <a:t> </a:t>
            </a:r>
            <a:r>
              <a:rPr lang="ko-KR" altLang="en-US" sz="1600" dirty="0" err="1"/>
              <a:t>모아엘가</a:t>
            </a:r>
            <a:endParaRPr lang="ko-KR" altLang="en-US" sz="1600" dirty="0"/>
          </a:p>
          <a:p>
            <a:r>
              <a:rPr lang="ko-KR" altLang="en-US" sz="1600" dirty="0"/>
              <a:t>입주민을 위한</a:t>
            </a:r>
            <a:endParaRPr lang="en-US" altLang="ko-KR" sz="1600" dirty="0"/>
          </a:p>
          <a:p>
            <a:r>
              <a:rPr lang="ko-KR" altLang="en-US" sz="1600" dirty="0"/>
              <a:t>특별한 혜택을 만나보세요</a:t>
            </a:r>
            <a:endParaRPr lang="en-US" altLang="ko-KR" sz="1600" dirty="0"/>
          </a:p>
          <a:p>
            <a:r>
              <a:rPr lang="en-US" altLang="ko-KR" sz="1600" dirty="0"/>
              <a:t>04.18 – 08.02</a:t>
            </a:r>
            <a:endParaRPr lang="ko-KR" altLang="en-US" sz="16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B45A4C3-4B51-4377-AEEF-8932A8479DB8}"/>
              </a:ext>
            </a:extLst>
          </p:cNvPr>
          <p:cNvSpPr txBox="1"/>
          <p:nvPr/>
        </p:nvSpPr>
        <p:spPr>
          <a:xfrm>
            <a:off x="990977" y="4866663"/>
            <a:ext cx="2566728" cy="58477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신세계 상품권 </a:t>
            </a:r>
            <a:r>
              <a:rPr lang="en-US" altLang="ko-KR" sz="1600" dirty="0"/>
              <a:t>2</a:t>
            </a:r>
            <a:r>
              <a:rPr lang="ko-KR" altLang="en-US" sz="1600" dirty="0"/>
              <a:t>만원 증정</a:t>
            </a:r>
            <a:endParaRPr lang="en-US" altLang="ko-KR" sz="1600" dirty="0"/>
          </a:p>
          <a:p>
            <a:r>
              <a:rPr lang="ko-KR" altLang="en-US" sz="1600" dirty="0"/>
              <a:t>선착순 </a:t>
            </a:r>
            <a:r>
              <a:rPr lang="en-US" altLang="ko-KR" sz="1600" dirty="0"/>
              <a:t>10</a:t>
            </a:r>
            <a:r>
              <a:rPr lang="ko-KR" altLang="en-US" sz="1600" dirty="0"/>
              <a:t>명 한정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5B4A788E-0F5D-45AD-A6B8-B9ED4C0E20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869" y="2840679"/>
            <a:ext cx="3991532" cy="1438476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FCEC33DD-7580-4C15-B04E-2A2BCE2D1247}"/>
              </a:ext>
            </a:extLst>
          </p:cNvPr>
          <p:cNvSpPr/>
          <p:nvPr/>
        </p:nvSpPr>
        <p:spPr>
          <a:xfrm>
            <a:off x="9171710" y="3583709"/>
            <a:ext cx="147781" cy="2077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50" dirty="0">
                <a:solidFill>
                  <a:sysClr val="windowText" lastClr="000000"/>
                </a:solidFill>
              </a:rPr>
              <a:t>or</a:t>
            </a:r>
            <a:endParaRPr lang="ko-KR" altLang="en-US" sz="1050" dirty="0">
              <a:solidFill>
                <a:sysClr val="windowText" lastClr="000000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D8E4A9C-0FCD-4935-936E-C7B96A0A9D8C}"/>
              </a:ext>
            </a:extLst>
          </p:cNvPr>
          <p:cNvSpPr/>
          <p:nvPr/>
        </p:nvSpPr>
        <p:spPr>
          <a:xfrm>
            <a:off x="10670958" y="4101483"/>
            <a:ext cx="1269507" cy="1776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55336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70</Words>
  <Application>Microsoft Office PowerPoint</Application>
  <PresentationFormat>와이드스크린</PresentationFormat>
  <Paragraphs>20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채선경 (Sunkyeong Chea)</dc:creator>
  <cp:lastModifiedBy>채선경 (Sunkyeong Chea)</cp:lastModifiedBy>
  <cp:revision>16</cp:revision>
  <dcterms:created xsi:type="dcterms:W3CDTF">2026-02-24T23:55:22Z</dcterms:created>
  <dcterms:modified xsi:type="dcterms:W3CDTF">2026-04-09T05:29:12Z</dcterms:modified>
</cp:coreProperties>
</file>